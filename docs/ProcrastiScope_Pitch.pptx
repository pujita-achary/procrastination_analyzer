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5A841E6-2053-9D39-409A-8D6061877981}">
          <p14:sldIdLst>
            <p14:sldId id="256"/>
          </p14:sldIdLst>
        </p14:section>
        <p14:section name="Context" id="{EFF0A14D-D696-5186-5D00-0458C56A7A61}">
          <p14:sldIdLst>
            <p14:sldId id="257"/>
            <p14:sldId id="258"/>
          </p14:sldIdLst>
        </p14:section>
        <p14:section name="Method" id="{4D851C5E-0B0D-57C7-3245-9C612844135A}">
          <p14:sldIdLst>
            <p14:sldId id="259"/>
            <p14:sldId id="260"/>
          </p14:sldIdLst>
        </p14:section>
        <p14:section name="Results" id="{60997C4E-9F8C-C971-396A-0BB0203A5AD9}">
          <p14:sldIdLst>
            <p14:sldId id="261"/>
            <p14:sldId id="262"/>
            <p14:sldId id="263"/>
          </p14:sldIdLst>
        </p14:section>
        <p14:section name="Close" id="{1A3D71C2-CFBE-4673-2C6E-B406C85C226A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8A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E3A8A"/>
                </a:solidFill>
                <a:latin typeface="+mn-lt"/>
              </a:rPr>
              <a:t>Sample 2 cohort: average index by student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Procrastination Index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ENG-A</c:v>
                </c:pt>
                <c:pt idx="1">
                  <c:v>ENG-D</c:v>
                </c:pt>
                <c:pt idx="2">
                  <c:v>ENG-E</c:v>
                </c:pt>
                <c:pt idx="3">
                  <c:v>ENG-C</c:v>
                </c:pt>
                <c:pt idx="4">
                  <c:v>ENG-B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61</c:v>
                </c:pt>
                <c:pt idx="2">
                  <c:v>50</c:v>
                </c:pt>
                <c:pt idx="3">
                  <c:v>45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1D-407F-872D-724A07B727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59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73152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CEREBRO NEURAL SENTIMENT HACKATHON  |  IEM KOLKATA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</a:rPr>
              <a:t>ProcrastiScope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Detecting academic procrastination patterns from student activity history</a:t>
            </a:r>
            <a:endParaRPr lang="en-US" sz="2000" dirty="0"/>
          </a:p>
        </p:txBody>
      </p:sp>
      <p:sp>
        <p:nvSpPr>
          <p:cNvPr id="5" name="team"/>
          <p:cNvSpPr txBox="1"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chemeClr val="accent6"/>
                </a:solidFill>
              </a:rPr>
              <a:t>Problem Statement 1  •  </a:t>
            </a:r>
            <a:r>
              <a:rPr lang="en-US" sz="1200" dirty="0">
                <a:solidFill>
                  <a:schemeClr val="bg1"/>
                </a:solidFill>
              </a:rPr>
              <a:t>Team: &lt;</a:t>
            </a:r>
            <a:r>
              <a:rPr lang="en-US" sz="1400" dirty="0">
                <a:solidFill>
                  <a:schemeClr val="bg1"/>
                </a:solidFill>
              </a:rPr>
              <a:t>nayakprayas323002</a:t>
            </a:r>
            <a:r>
              <a:rPr lang="en-US" sz="1200" dirty="0">
                <a:solidFill>
                  <a:schemeClr val="accent6"/>
                </a:solidFill>
              </a:rPr>
              <a:t>&gt;  •  &lt;</a:t>
            </a:r>
            <a:r>
              <a:rPr lang="en-US" sz="1100" dirty="0">
                <a:solidFill>
                  <a:schemeClr val="bg1"/>
                </a:solidFill>
              </a:rPr>
              <a:t>Prayas Kumar Nayak, CH PUJITA ACHARY, </a:t>
            </a:r>
            <a:r>
              <a:rPr lang="en-US" sz="1100" dirty="0" err="1">
                <a:solidFill>
                  <a:schemeClr val="bg1"/>
                </a:solidFill>
              </a:rPr>
              <a:t>Swabhimaan</a:t>
            </a:r>
            <a:r>
              <a:rPr lang="en-US" sz="1100" dirty="0">
                <a:solidFill>
                  <a:schemeClr val="bg1"/>
                </a:solidFill>
              </a:rPr>
              <a:t> Maharana </a:t>
            </a:r>
            <a:r>
              <a:rPr lang="en-US" sz="1100" dirty="0">
                <a:solidFill>
                  <a:schemeClr val="accent6"/>
                </a:solidFill>
              </a:rPr>
              <a:t>&gt;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The problem: deadline habits go unmeasured</a:t>
            </a:r>
            <a:endParaRPr lang="en-US" sz="2600" dirty="0"/>
          </a:p>
        </p:txBody>
      </p:sp>
      <p:sp>
        <p:nvSpPr>
          <p:cNvPr id="3" name="p1 card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1 accent"/>
          <p:cNvSpPr/>
          <p:nvPr/>
        </p:nvSpPr>
        <p:spPr>
          <a:xfrm>
            <a:off x="457200" y="1188720"/>
            <a:ext cx="64008" cy="18288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1 head"/>
          <p:cNvSpPr txBox="1"/>
          <p:nvPr/>
        </p:nvSpPr>
        <p:spPr>
          <a:xfrm>
            <a:off x="6858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Invisible pattern</a:t>
            </a:r>
            <a:endParaRPr lang="en-US" sz="1500" dirty="0"/>
          </a:p>
        </p:txBody>
      </p:sp>
      <p:sp>
        <p:nvSpPr>
          <p:cNvPr id="6" name="p1 body"/>
          <p:cNvSpPr txBox="1"/>
          <p:nvPr/>
        </p:nvSpPr>
        <p:spPr>
          <a:xfrm>
            <a:off x="685800" y="16916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Grades show the outcome, not when the work happened. Late-night cramming stays hidden until performance drops.</a:t>
            </a:r>
            <a:endParaRPr lang="en-US" sz="1300" dirty="0"/>
          </a:p>
        </p:txBody>
      </p:sp>
      <p:sp>
        <p:nvSpPr>
          <p:cNvPr id="7" name="p2 card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2 accent"/>
          <p:cNvSpPr/>
          <p:nvPr/>
        </p:nvSpPr>
        <p:spPr>
          <a:xfrm>
            <a:off x="3291840" y="1188720"/>
            <a:ext cx="64008" cy="18288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p2 head"/>
          <p:cNvSpPr txBox="1"/>
          <p:nvPr/>
        </p:nvSpPr>
        <p:spPr>
          <a:xfrm>
            <a:off x="352044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Reactive support</a:t>
            </a:r>
            <a:endParaRPr lang="en-US" sz="1500" dirty="0"/>
          </a:p>
        </p:txBody>
      </p:sp>
      <p:sp>
        <p:nvSpPr>
          <p:cNvPr id="10" name="p2 body"/>
          <p:cNvSpPr txBox="1"/>
          <p:nvPr/>
        </p:nvSpPr>
        <p:spPr>
          <a:xfrm>
            <a:off x="3520440" y="16916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Advisors usually intervene after a missed deadline or a failing grade, when it is already late.</a:t>
            </a:r>
            <a:endParaRPr lang="en-US" sz="1300" dirty="0"/>
          </a:p>
        </p:txBody>
      </p:sp>
      <p:sp>
        <p:nvSpPr>
          <p:cNvPr id="11" name="p3 card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3 accent"/>
          <p:cNvSpPr/>
          <p:nvPr/>
        </p:nvSpPr>
        <p:spPr>
          <a:xfrm>
            <a:off x="6126480" y="1188720"/>
            <a:ext cx="64008" cy="18288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p3 head"/>
          <p:cNvSpPr txBox="1"/>
          <p:nvPr/>
        </p:nvSpPr>
        <p:spPr>
          <a:xfrm>
            <a:off x="635508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explanation</a:t>
            </a:r>
            <a:endParaRPr lang="en-US" sz="1500" dirty="0"/>
          </a:p>
        </p:txBody>
      </p:sp>
      <p:sp>
        <p:nvSpPr>
          <p:cNvPr id="14" name="p3 body"/>
          <p:cNvSpPr txBox="1"/>
          <p:nvPr/>
        </p:nvSpPr>
        <p:spPr>
          <a:xfrm>
            <a:off x="6355080" y="16916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Scores without reasons are not actionable. Students and mentors need to know why.</a:t>
            </a:r>
            <a:endParaRPr lang="en-US" sz="1300" dirty="0"/>
          </a:p>
        </p:txBody>
      </p:sp>
      <p:sp>
        <p:nvSpPr>
          <p:cNvPr id="15" name="goal"/>
          <p:cNvSpPr txBox="1"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Our goal: turn raw submission timestamps into a measurable index, a behavior class, a trend and a plain-language explanation.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Our solution: an end-to-end analytics dashboard</a:t>
            </a:r>
            <a:endParaRPr lang="en-US" sz="2600" dirty="0"/>
          </a:p>
        </p:txBody>
      </p:sp>
      <p:sp>
        <p:nvSpPr>
          <p:cNvPr id="3" name="f0 card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0 accent"/>
          <p:cNvSpPr/>
          <p:nvPr/>
        </p:nvSpPr>
        <p:spPr>
          <a:xfrm>
            <a:off x="457200" y="1188720"/>
            <a:ext cx="64008" cy="1508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f0 head"/>
          <p:cNvSpPr txBox="1"/>
          <p:nvPr/>
        </p:nvSpPr>
        <p:spPr>
          <a:xfrm>
            <a:off x="6858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layer</a:t>
            </a:r>
            <a:endParaRPr lang="en-US" sz="1500" dirty="0"/>
          </a:p>
        </p:txBody>
      </p:sp>
      <p:sp>
        <p:nvSpPr>
          <p:cNvPr id="6" name="f0 body"/>
          <p:cNvSpPr txBox="1"/>
          <p:nvPr/>
        </p:nvSpPr>
        <p:spPr>
          <a:xfrm>
            <a:off x="6858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Built-in datasets, CSV upload, strict validation</a:t>
            </a:r>
            <a:endParaRPr lang="en-US" sz="1300" dirty="0"/>
          </a:p>
        </p:txBody>
      </p:sp>
      <p:sp>
        <p:nvSpPr>
          <p:cNvPr id="7" name="f1 card"/>
          <p:cNvSpPr/>
          <p:nvPr/>
        </p:nvSpPr>
        <p:spPr>
          <a:xfrm>
            <a:off x="3291840" y="118872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1 accent"/>
          <p:cNvSpPr/>
          <p:nvPr/>
        </p:nvSpPr>
        <p:spPr>
          <a:xfrm>
            <a:off x="3291840" y="1188720"/>
            <a:ext cx="64008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1 head"/>
          <p:cNvSpPr txBox="1"/>
          <p:nvPr/>
        </p:nvSpPr>
        <p:spPr>
          <a:xfrm>
            <a:off x="35204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Metrics engine</a:t>
            </a:r>
            <a:endParaRPr lang="en-US" sz="1500" dirty="0"/>
          </a:p>
        </p:txBody>
      </p:sp>
      <p:sp>
        <p:nvSpPr>
          <p:cNvPr id="10" name="f1 body"/>
          <p:cNvSpPr txBox="1"/>
          <p:nvPr/>
        </p:nvSpPr>
        <p:spPr>
          <a:xfrm>
            <a:off x="352044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Lead Time, Urgency Ratio, Procrastination Index (0-100)</a:t>
            </a:r>
            <a:endParaRPr lang="en-US" sz="1300" dirty="0"/>
          </a:p>
        </p:txBody>
      </p:sp>
      <p:sp>
        <p:nvSpPr>
          <p:cNvPr id="11" name="f2 card"/>
          <p:cNvSpPr/>
          <p:nvPr/>
        </p:nvSpPr>
        <p:spPr>
          <a:xfrm>
            <a:off x="6126480" y="118872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2 accent"/>
          <p:cNvSpPr/>
          <p:nvPr/>
        </p:nvSpPr>
        <p:spPr>
          <a:xfrm>
            <a:off x="6126480" y="1188720"/>
            <a:ext cx="64008" cy="1508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2 head"/>
          <p:cNvSpPr txBox="1"/>
          <p:nvPr/>
        </p:nvSpPr>
        <p:spPr>
          <a:xfrm>
            <a:off x="63550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Pattern classifier</a:t>
            </a:r>
            <a:endParaRPr lang="en-US" sz="1500" dirty="0"/>
          </a:p>
        </p:txBody>
      </p:sp>
      <p:sp>
        <p:nvSpPr>
          <p:cNvPr id="14" name="f2 body"/>
          <p:cNvSpPr txBox="1"/>
          <p:nvPr/>
        </p:nvSpPr>
        <p:spPr>
          <a:xfrm>
            <a:off x="63550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Early Bird, Steady, Last-Minute, Chronic Cruncher</a:t>
            </a:r>
            <a:endParaRPr lang="en-US" sz="1300" dirty="0"/>
          </a:p>
        </p:txBody>
      </p:sp>
      <p:sp>
        <p:nvSpPr>
          <p:cNvPr id="15" name="f3 card"/>
          <p:cNvSpPr/>
          <p:nvPr/>
        </p:nvSpPr>
        <p:spPr>
          <a:xfrm>
            <a:off x="457200" y="288036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3 accent"/>
          <p:cNvSpPr/>
          <p:nvPr/>
        </p:nvSpPr>
        <p:spPr>
          <a:xfrm>
            <a:off x="457200" y="2880360"/>
            <a:ext cx="64008" cy="1508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f3 head"/>
          <p:cNvSpPr txBox="1"/>
          <p:nvPr/>
        </p:nvSpPr>
        <p:spPr>
          <a:xfrm>
            <a:off x="6858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Trend detector</a:t>
            </a:r>
            <a:endParaRPr lang="en-US" sz="1500" dirty="0"/>
          </a:p>
        </p:txBody>
      </p:sp>
      <p:sp>
        <p:nvSpPr>
          <p:cNvPr id="18" name="f3 body"/>
          <p:cNvSpPr txBox="1"/>
          <p:nvPr/>
        </p:nvSpPr>
        <p:spPr>
          <a:xfrm>
            <a:off x="6858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Improving, Stable or Worsening across tasks and semesters</a:t>
            </a:r>
            <a:endParaRPr lang="en-US" sz="1300" dirty="0"/>
          </a:p>
        </p:txBody>
      </p:sp>
      <p:sp>
        <p:nvSpPr>
          <p:cNvPr id="19" name="f4 card"/>
          <p:cNvSpPr/>
          <p:nvPr/>
        </p:nvSpPr>
        <p:spPr>
          <a:xfrm>
            <a:off x="3291840" y="288036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4 accent"/>
          <p:cNvSpPr/>
          <p:nvPr/>
        </p:nvSpPr>
        <p:spPr>
          <a:xfrm>
            <a:off x="3291840" y="2880360"/>
            <a:ext cx="64008" cy="1508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f4 head"/>
          <p:cNvSpPr txBox="1"/>
          <p:nvPr/>
        </p:nvSpPr>
        <p:spPr>
          <a:xfrm>
            <a:off x="35204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Interactive visuals</a:t>
            </a:r>
            <a:endParaRPr lang="en-US" sz="1500" dirty="0"/>
          </a:p>
        </p:txBody>
      </p:sp>
      <p:sp>
        <p:nvSpPr>
          <p:cNvPr id="22" name="f4 body"/>
          <p:cNvSpPr txBox="1"/>
          <p:nvPr/>
        </p:nvSpPr>
        <p:spPr>
          <a:xfrm>
            <a:off x="352044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Gantt timeline, distributions, gauge, trend lines</a:t>
            </a:r>
            <a:endParaRPr lang="en-US" sz="1300" dirty="0"/>
          </a:p>
        </p:txBody>
      </p:sp>
      <p:sp>
        <p:nvSpPr>
          <p:cNvPr id="23" name="f5 card"/>
          <p:cNvSpPr/>
          <p:nvPr/>
        </p:nvSpPr>
        <p:spPr>
          <a:xfrm>
            <a:off x="6126480" y="2880360"/>
            <a:ext cx="265176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5 accent"/>
          <p:cNvSpPr/>
          <p:nvPr/>
        </p:nvSpPr>
        <p:spPr>
          <a:xfrm>
            <a:off x="6126480" y="2880360"/>
            <a:ext cx="64008" cy="15087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f5 head"/>
          <p:cNvSpPr txBox="1"/>
          <p:nvPr/>
        </p:nvSpPr>
        <p:spPr>
          <a:xfrm>
            <a:off x="6355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Explainer</a:t>
            </a:r>
            <a:endParaRPr lang="en-US" sz="1500" dirty="0"/>
          </a:p>
        </p:txBody>
      </p:sp>
      <p:sp>
        <p:nvSpPr>
          <p:cNvPr id="26" name="f5 body"/>
          <p:cNvSpPr txBox="1"/>
          <p:nvPr/>
        </p:nvSpPr>
        <p:spPr>
          <a:xfrm>
            <a:off x="63550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Rule-based paragraph and recommendation per student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Methodology: transparent, interpretable scoring</a:t>
            </a:r>
            <a:endParaRPr lang="en-US" sz="2600" dirty="0"/>
          </a:p>
        </p:txBody>
      </p:sp>
      <p:sp>
        <p:nvSpPr>
          <p:cNvPr id="3" name="m1 card"/>
          <p:cNvSpPr/>
          <p:nvPr/>
        </p:nvSpPr>
        <p:spPr>
          <a:xfrm>
            <a:off x="457200" y="1097280"/>
            <a:ext cx="393192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1 accent"/>
          <p:cNvSpPr/>
          <p:nvPr/>
        </p:nvSpPr>
        <p:spPr>
          <a:xfrm>
            <a:off x="457200" y="1097280"/>
            <a:ext cx="64008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m1 head"/>
          <p:cNvSpPr txBox="1"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Lead Time</a:t>
            </a:r>
            <a:endParaRPr lang="en-US" sz="1500" dirty="0"/>
          </a:p>
        </p:txBody>
      </p:sp>
      <p:sp>
        <p:nvSpPr>
          <p:cNvPr id="6" name="m1 body"/>
          <p:cNvSpPr txBox="1"/>
          <p:nvPr/>
        </p:nvSpPr>
        <p:spPr>
          <a:xfrm>
            <a:off x="68580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deadline − submission, in hours (negative = late)</a:t>
            </a:r>
            <a:endParaRPr lang="en-US" sz="1300" dirty="0"/>
          </a:p>
        </p:txBody>
      </p:sp>
      <p:sp>
        <p:nvSpPr>
          <p:cNvPr id="7" name="m2 card"/>
          <p:cNvSpPr/>
          <p:nvPr/>
        </p:nvSpPr>
        <p:spPr>
          <a:xfrm>
            <a:off x="457200" y="2103120"/>
            <a:ext cx="393192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2 accent"/>
          <p:cNvSpPr/>
          <p:nvPr/>
        </p:nvSpPr>
        <p:spPr>
          <a:xfrm>
            <a:off x="457200" y="210312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2 head"/>
          <p:cNvSpPr txBox="1"/>
          <p:nvPr/>
        </p:nvSpPr>
        <p:spPr>
          <a:xfrm>
            <a:off x="68580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Urgency Ratio</a:t>
            </a:r>
            <a:endParaRPr lang="en-US" sz="1500" dirty="0"/>
          </a:p>
        </p:txBody>
      </p:sp>
      <p:sp>
        <p:nvSpPr>
          <p:cNvPr id="10" name="m2 body"/>
          <p:cNvSpPr txBox="1"/>
          <p:nvPr/>
        </p:nvSpPr>
        <p:spPr>
          <a:xfrm>
            <a:off x="68580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time used at submission ÷ total time allowed</a:t>
            </a:r>
            <a:endParaRPr lang="en-US" sz="1300" dirty="0"/>
          </a:p>
        </p:txBody>
      </p:sp>
      <p:sp>
        <p:nvSpPr>
          <p:cNvPr id="11" name="m3 card"/>
          <p:cNvSpPr/>
          <p:nvPr/>
        </p:nvSpPr>
        <p:spPr>
          <a:xfrm>
            <a:off x="457200" y="3108960"/>
            <a:ext cx="393192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3 accent"/>
          <p:cNvSpPr/>
          <p:nvPr/>
        </p:nvSpPr>
        <p:spPr>
          <a:xfrm>
            <a:off x="457200" y="3108960"/>
            <a:ext cx="64008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m3 head"/>
          <p:cNvSpPr txBox="1"/>
          <p:nvPr/>
        </p:nvSpPr>
        <p:spPr>
          <a:xfrm>
            <a:off x="68580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Procrastination Index</a:t>
            </a:r>
            <a:endParaRPr lang="en-US" sz="1500" dirty="0"/>
          </a:p>
        </p:txBody>
      </p:sp>
      <p:sp>
        <p:nvSpPr>
          <p:cNvPr id="14" name="m3 body"/>
          <p:cNvSpPr txBox="1"/>
          <p:nvPr/>
        </p:nvSpPr>
        <p:spPr>
          <a:xfrm>
            <a:off x="685800" y="3611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90 × clip(ratio, 0-1), plus 10 if late. Range 0-100.</a:t>
            </a:r>
            <a:endParaRPr lang="en-US" sz="1300" dirty="0"/>
          </a:p>
        </p:txBody>
      </p:sp>
      <p:graphicFrame>
        <p:nvGraphicFramePr>
          <p:cNvPr id="15" name="cla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97280"/>
          <a:ext cx="4023360" cy="2423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Pattern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 (student's task history)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Early Bird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index &lt; 30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Steady Worker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index 30-55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Last-Minute Procrastinator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index ≥ 55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Chronic Cruncher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mean ≥ 70 and ≥ 50% of tasks in the last 10% of the window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rend note"/>
          <p:cNvSpPr txBox="1"/>
          <p:nvPr/>
        </p:nvSpPr>
        <p:spPr>
          <a:xfrm>
            <a:off x="4663440" y="3749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Trend = mean index of 2nd half of history minus 1st half: ≥ +5 Worsening, ≤ −5 Improving.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Architecture: from raw CSV to explained insight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457200" y="146304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epT0"/>
          <p:cNvSpPr txBox="1"/>
          <p:nvPr/>
        </p:nvSpPr>
        <p:spPr>
          <a:xfrm>
            <a:off x="56692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 Ingest</a:t>
            </a:r>
            <a:endParaRPr lang="en-US" sz="1500" dirty="0"/>
          </a:p>
        </p:txBody>
      </p:sp>
      <p:sp>
        <p:nvSpPr>
          <p:cNvPr id="5" name="stepB0"/>
          <p:cNvSpPr txBox="1"/>
          <p:nvPr/>
        </p:nvSpPr>
        <p:spPr>
          <a:xfrm>
            <a:off x="566928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Built-in or uploaded CSV</a:t>
            </a:r>
            <a:endParaRPr lang="en-US" sz="1200" dirty="0"/>
          </a:p>
        </p:txBody>
      </p:sp>
      <p:sp>
        <p:nvSpPr>
          <p:cNvPr id="6" name="step1"/>
          <p:cNvSpPr/>
          <p:nvPr/>
        </p:nvSpPr>
        <p:spPr>
          <a:xfrm>
            <a:off x="2148840" y="146304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tepT1"/>
          <p:cNvSpPr txBox="1"/>
          <p:nvPr/>
        </p:nvSpPr>
        <p:spPr>
          <a:xfrm>
            <a:off x="225856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 Validate</a:t>
            </a:r>
            <a:endParaRPr lang="en-US" sz="1500" dirty="0"/>
          </a:p>
        </p:txBody>
      </p:sp>
      <p:sp>
        <p:nvSpPr>
          <p:cNvPr id="8" name="stepB1"/>
          <p:cNvSpPr txBox="1"/>
          <p:nvPr/>
        </p:nvSpPr>
        <p:spPr>
          <a:xfrm>
            <a:off x="2258568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Normalize columns, drop bad rows</a:t>
            </a:r>
            <a:endParaRPr lang="en-US" sz="1200" dirty="0"/>
          </a:p>
        </p:txBody>
      </p:sp>
      <p:sp>
        <p:nvSpPr>
          <p:cNvPr id="9" name="step2"/>
          <p:cNvSpPr/>
          <p:nvPr/>
        </p:nvSpPr>
        <p:spPr>
          <a:xfrm>
            <a:off x="3840480" y="146304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epT2"/>
          <p:cNvSpPr txBox="1"/>
          <p:nvPr/>
        </p:nvSpPr>
        <p:spPr>
          <a:xfrm>
            <a:off x="395020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 Compute</a:t>
            </a:r>
            <a:endParaRPr lang="en-US" sz="1500" dirty="0"/>
          </a:p>
        </p:txBody>
      </p:sp>
      <p:sp>
        <p:nvSpPr>
          <p:cNvPr id="11" name="stepB2"/>
          <p:cNvSpPr txBox="1"/>
          <p:nvPr/>
        </p:nvSpPr>
        <p:spPr>
          <a:xfrm>
            <a:off x="3950208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Lead time, ratio, index</a:t>
            </a:r>
            <a:endParaRPr lang="en-US" sz="1200" dirty="0"/>
          </a:p>
        </p:txBody>
      </p:sp>
      <p:sp>
        <p:nvSpPr>
          <p:cNvPr id="12" name="step3"/>
          <p:cNvSpPr/>
          <p:nvPr/>
        </p:nvSpPr>
        <p:spPr>
          <a:xfrm>
            <a:off x="5532120" y="146304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tepT3"/>
          <p:cNvSpPr txBox="1"/>
          <p:nvPr/>
        </p:nvSpPr>
        <p:spPr>
          <a:xfrm>
            <a:off x="564184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 Classify</a:t>
            </a:r>
            <a:endParaRPr lang="en-US" sz="1500" dirty="0"/>
          </a:p>
        </p:txBody>
      </p:sp>
      <p:sp>
        <p:nvSpPr>
          <p:cNvPr id="14" name="stepB3"/>
          <p:cNvSpPr txBox="1"/>
          <p:nvPr/>
        </p:nvSpPr>
        <p:spPr>
          <a:xfrm>
            <a:off x="5641848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Pattern and trend</a:t>
            </a:r>
            <a:endParaRPr lang="en-US" sz="1200" dirty="0"/>
          </a:p>
        </p:txBody>
      </p:sp>
      <p:sp>
        <p:nvSpPr>
          <p:cNvPr id="15" name="step4"/>
          <p:cNvSpPr/>
          <p:nvPr/>
        </p:nvSpPr>
        <p:spPr>
          <a:xfrm>
            <a:off x="7223760" y="1463040"/>
            <a:ext cx="1463040" cy="1554480"/>
          </a:xfrm>
          <a:prstGeom prst="roundRect">
            <a:avLst>
              <a:gd name="adj" fmla="val 6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tepT4"/>
          <p:cNvSpPr txBox="1"/>
          <p:nvPr/>
        </p:nvSpPr>
        <p:spPr>
          <a:xfrm>
            <a:off x="7333488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Present</a:t>
            </a:r>
            <a:endParaRPr lang="en-US" sz="1500" dirty="0"/>
          </a:p>
        </p:txBody>
      </p:sp>
      <p:sp>
        <p:nvSpPr>
          <p:cNvPr id="17" name="stepB4"/>
          <p:cNvSpPr txBox="1"/>
          <p:nvPr/>
        </p:nvSpPr>
        <p:spPr>
          <a:xfrm>
            <a:off x="7333488" y="21031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Charts and explanation</a:t>
            </a:r>
            <a:endParaRPr lang="en-US" sz="1200" dirty="0"/>
          </a:p>
        </p:txBody>
      </p:sp>
      <p:sp>
        <p:nvSpPr>
          <p:cNvPr id="18" name="stack"/>
          <p:cNvSpPr txBox="1"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Stack: Python  •  Pandas  •  NumPy  •  Plotly  •  Streamlit</a:t>
            </a:r>
            <a:endParaRPr lang="en-US" sz="1600" dirty="0"/>
          </a:p>
        </p:txBody>
      </p:sp>
      <p:sp>
        <p:nvSpPr>
          <p:cNvPr id="19" name="robust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Errors never crash the app: invalid uploads fall back to sample data with a clear warning.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Live dashboard</a:t>
            </a:r>
            <a:endParaRPr lang="en-US" sz="2600" dirty="0"/>
          </a:p>
        </p:txBody>
      </p:sp>
      <p:pic>
        <p:nvPicPr>
          <p:cNvPr id="3" name="dashboard screenshot" descr="/mnt/user-data/outputs/procrastination_analyzer/screen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669280" cy="2878250"/>
          </a:xfrm>
          <a:prstGeom prst="rect">
            <a:avLst/>
          </a:prstGeom>
        </p:spPr>
      </p:pic>
      <p:sp>
        <p:nvSpPr>
          <p:cNvPr id="4" name="screenshot notes"/>
          <p:cNvSpPr txBox="1"/>
          <p:nvPr/>
        </p:nvSpPr>
        <p:spPr>
          <a:xfrm>
            <a:off x="6400800" y="109728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Instant verdict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Pattern, index, lead time and trend on one row.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Interactive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Switch datasets and students without reloading.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Judge-friendly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Upload any CSV or download the samples.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Results: the engine separates behaviors clearly</a:t>
            </a:r>
            <a:endParaRPr lang="en-US" sz="2600" dirty="0"/>
          </a:p>
        </p:txBody>
      </p:sp>
      <p:graphicFrame>
        <p:nvGraphicFramePr>
          <p:cNvPr id="3" name="index chart"/>
          <p:cNvGraphicFramePr/>
          <p:nvPr/>
        </p:nvGraphicFramePr>
        <p:xfrm>
          <a:off x="457200" y="109728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1 card"/>
          <p:cNvSpPr/>
          <p:nvPr/>
        </p:nvSpPr>
        <p:spPr>
          <a:xfrm>
            <a:off x="5852160" y="1097280"/>
            <a:ext cx="28346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1 accent"/>
          <p:cNvSpPr/>
          <p:nvPr/>
        </p:nvSpPr>
        <p:spPr>
          <a:xfrm>
            <a:off x="5852160" y="1097280"/>
            <a:ext cx="64008" cy="10515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r1 head"/>
          <p:cNvSpPr txBox="1"/>
          <p:nvPr/>
        </p:nvSpPr>
        <p:spPr>
          <a:xfrm>
            <a:off x="608076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ENG-A: Chronic Cruncher</a:t>
            </a:r>
            <a:endParaRPr lang="en-US" sz="1500" dirty="0"/>
          </a:p>
        </p:txBody>
      </p:sp>
      <p:sp>
        <p:nvSpPr>
          <p:cNvPr id="7" name="r1 body"/>
          <p:cNvSpPr txBox="1"/>
          <p:nvPr/>
        </p:nvSpPr>
        <p:spPr>
          <a:xfrm>
            <a:off x="60807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Index 95, often late, getting worse.</a:t>
            </a:r>
            <a:endParaRPr lang="en-US" sz="1300" dirty="0"/>
          </a:p>
        </p:txBody>
      </p:sp>
      <p:sp>
        <p:nvSpPr>
          <p:cNvPr id="8" name="r2 card"/>
          <p:cNvSpPr/>
          <p:nvPr/>
        </p:nvSpPr>
        <p:spPr>
          <a:xfrm>
            <a:off x="5852160" y="2286000"/>
            <a:ext cx="28346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2 accent"/>
          <p:cNvSpPr/>
          <p:nvPr/>
        </p:nvSpPr>
        <p:spPr>
          <a:xfrm>
            <a:off x="5852160" y="2286000"/>
            <a:ext cx="64008" cy="10515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r2 head"/>
          <p:cNvSpPr txBox="1"/>
          <p:nvPr/>
        </p:nvSpPr>
        <p:spPr>
          <a:xfrm>
            <a:off x="60807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ENG-D: Improving</a:t>
            </a:r>
            <a:endParaRPr lang="en-US" sz="1500" dirty="0"/>
          </a:p>
        </p:txBody>
      </p:sp>
      <p:sp>
        <p:nvSpPr>
          <p:cNvPr id="11" name="r2 body"/>
          <p:cNvSpPr txBox="1"/>
          <p:nvPr/>
        </p:nvSpPr>
        <p:spPr>
          <a:xfrm>
            <a:off x="608076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From last-minute to steady across 4 semesters.</a:t>
            </a:r>
            <a:endParaRPr lang="en-US" sz="1300" dirty="0"/>
          </a:p>
        </p:txBody>
      </p:sp>
      <p:sp>
        <p:nvSpPr>
          <p:cNvPr id="12" name="r3 card"/>
          <p:cNvSpPr/>
          <p:nvPr/>
        </p:nvSpPr>
        <p:spPr>
          <a:xfrm>
            <a:off x="5852160" y="3474720"/>
            <a:ext cx="28346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3 accent"/>
          <p:cNvSpPr/>
          <p:nvPr/>
        </p:nvSpPr>
        <p:spPr>
          <a:xfrm>
            <a:off x="5852160" y="3474720"/>
            <a:ext cx="64008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r3 head"/>
          <p:cNvSpPr txBox="1"/>
          <p:nvPr/>
        </p:nvSpPr>
        <p:spPr>
          <a:xfrm>
            <a:off x="60807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ENG-B: Early Bird</a:t>
            </a:r>
            <a:endParaRPr lang="en-US" sz="1500" dirty="0"/>
          </a:p>
        </p:txBody>
      </p:sp>
      <p:sp>
        <p:nvSpPr>
          <p:cNvPr id="15" name="r3 body"/>
          <p:cNvSpPr txBox="1"/>
          <p:nvPr/>
        </p:nvSpPr>
        <p:spPr>
          <a:xfrm>
            <a:off x="608076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Index 14, consistently ahead of deadlines.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Explainable by design: every label comes with a reason</a:t>
            </a:r>
            <a:endParaRPr lang="en-US" sz="2600" dirty="0"/>
          </a:p>
        </p:txBody>
      </p:sp>
      <p:sp>
        <p:nvSpPr>
          <p:cNvPr id="3" name="explain box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explain text"/>
          <p:cNvSpPr txBox="1"/>
          <p:nvPr/>
        </p:nvSpPr>
        <p:spPr>
          <a:xfrm>
            <a:off x="731520" y="13258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“S101 is classified as a Chronic Cruncher based on 24 tasks. The average Procrastination Index is 83/100, with submissions made after 91% of the allowed time. Behaviour is worsening: the later half scores +9.8 points higher than the earlier half. Recommendation: urgent intervention with enforced milestones and advisor check-ins.”</a:t>
            </a:r>
            <a:endParaRPr lang="en-US" sz="1500" dirty="0"/>
          </a:p>
        </p:txBody>
      </p:sp>
      <p:sp>
        <p:nvSpPr>
          <p:cNvPr id="5" name="e1 card"/>
          <p:cNvSpPr/>
          <p:nvPr/>
        </p:nvSpPr>
        <p:spPr>
          <a:xfrm>
            <a:off x="457200" y="3291840"/>
            <a:ext cx="26517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e1 accent"/>
          <p:cNvSpPr/>
          <p:nvPr/>
        </p:nvSpPr>
        <p:spPr>
          <a:xfrm>
            <a:off x="457200" y="329184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e1 head"/>
          <p:cNvSpPr txBox="1"/>
          <p:nvPr/>
        </p:nvSpPr>
        <p:spPr>
          <a:xfrm>
            <a:off x="6858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Evidence-based</a:t>
            </a:r>
            <a:endParaRPr lang="en-US" sz="1500" dirty="0"/>
          </a:p>
        </p:txBody>
      </p:sp>
      <p:sp>
        <p:nvSpPr>
          <p:cNvPr id="8" name="e1 body"/>
          <p:cNvSpPr txBox="1"/>
          <p:nvPr/>
        </p:nvSpPr>
        <p:spPr>
          <a:xfrm>
            <a:off x="68580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Cites tasks, index, lead time, late rate.</a:t>
            </a:r>
            <a:endParaRPr lang="en-US" sz="1300" dirty="0"/>
          </a:p>
        </p:txBody>
      </p:sp>
      <p:sp>
        <p:nvSpPr>
          <p:cNvPr id="9" name="e2 card"/>
          <p:cNvSpPr/>
          <p:nvPr/>
        </p:nvSpPr>
        <p:spPr>
          <a:xfrm>
            <a:off x="3246120" y="3291840"/>
            <a:ext cx="26517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2 accent"/>
          <p:cNvSpPr/>
          <p:nvPr/>
        </p:nvSpPr>
        <p:spPr>
          <a:xfrm>
            <a:off x="3246120" y="3291840"/>
            <a:ext cx="64008" cy="1188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e2 head"/>
          <p:cNvSpPr txBox="1"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Category insight</a:t>
            </a:r>
            <a:endParaRPr lang="en-US" sz="1500" dirty="0"/>
          </a:p>
        </p:txBody>
      </p:sp>
      <p:sp>
        <p:nvSpPr>
          <p:cNvPr id="12" name="e2 body"/>
          <p:cNvSpPr txBox="1"/>
          <p:nvPr/>
        </p:nvSpPr>
        <p:spPr>
          <a:xfrm>
            <a:off x="347472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Names the task types that cause delay.</a:t>
            </a:r>
            <a:endParaRPr lang="en-US" sz="1300" dirty="0"/>
          </a:p>
        </p:txBody>
      </p:sp>
      <p:sp>
        <p:nvSpPr>
          <p:cNvPr id="13" name="e3 card"/>
          <p:cNvSpPr/>
          <p:nvPr/>
        </p:nvSpPr>
        <p:spPr>
          <a:xfrm>
            <a:off x="6035040" y="3291840"/>
            <a:ext cx="26517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3 accent"/>
          <p:cNvSpPr/>
          <p:nvPr/>
        </p:nvSpPr>
        <p:spPr>
          <a:xfrm>
            <a:off x="6035040" y="3291840"/>
            <a:ext cx="64008" cy="1188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e3 head"/>
          <p:cNvSpPr txBox="1"/>
          <p:nvPr/>
        </p:nvSpPr>
        <p:spPr>
          <a:xfrm>
            <a:off x="626364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Actionable</a:t>
            </a:r>
            <a:endParaRPr lang="en-US" sz="1500" dirty="0"/>
          </a:p>
        </p:txBody>
      </p:sp>
      <p:sp>
        <p:nvSpPr>
          <p:cNvPr id="16" name="e3 body"/>
          <p:cNvSpPr txBox="1"/>
          <p:nvPr/>
        </p:nvSpPr>
        <p:spPr>
          <a:xfrm>
            <a:off x="626364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Recommendation matched to the pattern.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Impact and future scope</a:t>
            </a:r>
            <a:endParaRPr lang="en-US" sz="2600" dirty="0"/>
          </a:p>
        </p:txBody>
      </p:sp>
      <p:sp>
        <p:nvSpPr>
          <p:cNvPr id="3" name="i1 card"/>
          <p:cNvSpPr/>
          <p:nvPr/>
        </p:nvSpPr>
        <p:spPr>
          <a:xfrm>
            <a:off x="457200" y="1143000"/>
            <a:ext cx="40233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1 accent"/>
          <p:cNvSpPr/>
          <p:nvPr/>
        </p:nvSpPr>
        <p:spPr>
          <a:xfrm>
            <a:off x="457200" y="1143000"/>
            <a:ext cx="64008" cy="1828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i1 head"/>
          <p:cNvSpPr txBox="1"/>
          <p:nvPr/>
        </p:nvSpPr>
        <p:spPr>
          <a:xfrm>
            <a:off x="6858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Who benefits</a:t>
            </a:r>
            <a:endParaRPr lang="en-US" sz="1500" dirty="0"/>
          </a:p>
        </p:txBody>
      </p:sp>
      <p:sp>
        <p:nvSpPr>
          <p:cNvPr id="6" name="i1 body"/>
          <p:cNvSpPr txBox="1"/>
          <p:nvPr/>
        </p:nvSpPr>
        <p:spPr>
          <a:xfrm>
            <a:off x="685800" y="16459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Students: self-awareness of their habits.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Mentors and advisors: early, data-backed signals.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Institutions: scalable cohort-level insight.</a:t>
            </a:r>
            <a:endParaRPr lang="en-US" sz="1300" dirty="0"/>
          </a:p>
        </p:txBody>
      </p:sp>
      <p:sp>
        <p:nvSpPr>
          <p:cNvPr id="7" name="i2 card"/>
          <p:cNvSpPr/>
          <p:nvPr/>
        </p:nvSpPr>
        <p:spPr>
          <a:xfrm>
            <a:off x="4663440" y="1143000"/>
            <a:ext cx="40233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2 accent"/>
          <p:cNvSpPr/>
          <p:nvPr/>
        </p:nvSpPr>
        <p:spPr>
          <a:xfrm>
            <a:off x="4663440" y="1143000"/>
            <a:ext cx="64008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2 head"/>
          <p:cNvSpPr txBox="1"/>
          <p:nvPr/>
        </p:nvSpPr>
        <p:spPr>
          <a:xfrm>
            <a:off x="48920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What's next</a:t>
            </a:r>
            <a:endParaRPr lang="en-US" sz="1500" dirty="0"/>
          </a:p>
        </p:txBody>
      </p:sp>
      <p:sp>
        <p:nvSpPr>
          <p:cNvPr id="10" name="i2 body"/>
          <p:cNvSpPr txBox="1"/>
          <p:nvPr/>
        </p:nvSpPr>
        <p:spPr>
          <a:xfrm>
            <a:off x="4892040" y="16459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Real LMS integration (Moodle, Canvas).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Learned thresholds via clustering.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Automatic early-warning alerts.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Sentiment and stress signals.</a:t>
            </a:r>
            <a:endParaRPr lang="en-US" sz="1300" dirty="0"/>
          </a:p>
        </p:txBody>
      </p:sp>
      <p:sp>
        <p:nvSpPr>
          <p:cNvPr id="11" name="links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chemeClr val="tx2"/>
                </a:solidFill>
              </a:rPr>
              <a:t>GitHub: github.com/</a:t>
            </a:r>
            <a:r>
              <a:rPr lang="en-US" sz="1400" b="1" dirty="0" err="1">
                <a:solidFill>
                  <a:schemeClr val="tx2"/>
                </a:solidFill>
              </a:rPr>
              <a:t>pujita-achary</a:t>
            </a:r>
            <a:r>
              <a:rPr lang="en-US" sz="1400" b="1" dirty="0">
                <a:solidFill>
                  <a:schemeClr val="tx2"/>
                </a:solidFill>
              </a:rPr>
              <a:t>/</a:t>
            </a:r>
            <a:r>
              <a:rPr lang="en-US" sz="1400" b="1" dirty="0" err="1">
                <a:solidFill>
                  <a:schemeClr val="tx2"/>
                </a:solidFill>
              </a:rPr>
              <a:t>procrastination_analyzer</a:t>
            </a:r>
            <a:r>
              <a:rPr lang="en-US" sz="1400" b="1" dirty="0">
                <a:solidFill>
                  <a:schemeClr val="tx2"/>
                </a:solidFill>
              </a:rPr>
              <a:t> |  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Live demo: &lt; https://procrastiscope.streamlit.app &gt;</a:t>
            </a:r>
            <a:endParaRPr lang="en-US" sz="1400" dirty="0"/>
          </a:p>
        </p:txBody>
      </p:sp>
      <p:sp>
        <p:nvSpPr>
          <p:cNvPr id="12" name="thanks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crastiScope">
  <a:themeElements>
    <a:clrScheme name="ProcrastiScope">
      <a:dk1>
        <a:srgbClr val="0F172A"/>
      </a:dk1>
      <a:lt1>
        <a:srgbClr val="FFFFFF"/>
      </a:lt1>
      <a:dk2>
        <a:srgbClr val="1E3A8A"/>
      </a:dk2>
      <a:lt2>
        <a:srgbClr val="F1F5F9"/>
      </a:lt2>
      <a:accent1>
        <a:srgbClr val="6D28D9"/>
      </a:accent1>
      <a:accent2>
        <a:srgbClr val="3B82F6"/>
      </a:accent2>
      <a:accent3>
        <a:srgbClr val="10B981"/>
      </a:accent3>
      <a:accent4>
        <a:srgbClr val="F59E0B"/>
      </a:accent4>
      <a:accent5>
        <a:srgbClr val="EF4444"/>
      </a:accent5>
      <a:accent6>
        <a:srgbClr val="64748B"/>
      </a:accent6>
      <a:hlink>
        <a:srgbClr val="3B82F6"/>
      </a:hlink>
      <a:folHlink>
        <a:srgbClr val="6D28D9"/>
      </a:folHlink>
    </a:clrScheme>
    <a:fontScheme name="ProcrastiScop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657</Words>
  <Application>Microsoft Office PowerPoint</Application>
  <PresentationFormat>On-screen Show (16:9)</PresentationFormat>
  <Paragraphs>111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ProcrastiScope</vt:lpstr>
      <vt:lpstr>PowerPoint Presentation</vt:lpstr>
      <vt:lpstr>The problem: deadline habits go unmeasured</vt:lpstr>
      <vt:lpstr>Our solution: an end-to-end analytics dashboard</vt:lpstr>
      <vt:lpstr>Methodology: transparent, interpretable scoring</vt:lpstr>
      <vt:lpstr>Architecture: from raw CSV to explained insight</vt:lpstr>
      <vt:lpstr>Live dashboard</vt:lpstr>
      <vt:lpstr>Results: the engine separates behaviors clearly</vt:lpstr>
      <vt:lpstr>Explainable by design: every label comes with a reason</vt:lpstr>
      <vt:lpstr>Impact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ProcrastiScope</dc:title>
  <dc:subject>PptxGenJS Presentation</dc:subject>
  <dc:creator>Team</dc:creator>
  <cp:lastModifiedBy>Ch Pujita Achary</cp:lastModifiedBy>
  <cp:revision>2</cp:revision>
  <dcterms:created xsi:type="dcterms:W3CDTF">2026-10-03T05:58:14Z</dcterms:created>
  <dcterms:modified xsi:type="dcterms:W3CDTF">2026-10-03T06:32:00Z</dcterms:modified>
</cp:coreProperties>
</file>